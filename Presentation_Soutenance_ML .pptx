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53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AFA-4E11-947F-B70B46BC198E}"/>
              </c:ext>
            </c:extLst>
          </c:dPt>
          <c:dPt>
            <c:idx val="1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AFA-4E11-947F-B70B46BC198E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AFA-4E11-947F-B70B46BC198E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AFA-4E11-947F-B70B46BC198E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Saines (0)</c:v>
                </c:pt>
                <c:pt idx="1">
                  <c:v>Diabétiques (1)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500</c:v>
                </c:pt>
                <c:pt idx="1">
                  <c:v>268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AFA-4E11-947F-B70B46BC198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6323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Rég. Log.</c:v>
                </c:pt>
                <c:pt idx="1">
                  <c:v>KNN</c:v>
                </c:pt>
                <c:pt idx="2">
                  <c:v>SVM</c:v>
                </c:pt>
                <c:pt idx="3">
                  <c:v>Random Forest</c:v>
                </c:pt>
                <c:pt idx="4">
                  <c:v>Grad. Boosting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0.70799999999999996</c:v>
                </c:pt>
                <c:pt idx="1">
                  <c:v>0.81200000000000006</c:v>
                </c:pt>
                <c:pt idx="2">
                  <c:v>0.83799999999999997</c:v>
                </c:pt>
                <c:pt idx="3">
                  <c:v>0.86399999999999999</c:v>
                </c:pt>
                <c:pt idx="4">
                  <c:v>0.88300000000000001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52E-4270-B424-67F864CA6A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Rég. Log.</c:v>
                </c:pt>
                <c:pt idx="1">
                  <c:v>KNN</c:v>
                </c:pt>
                <c:pt idx="2">
                  <c:v>SVM</c:v>
                </c:pt>
                <c:pt idx="3">
                  <c:v>Random Forest</c:v>
                </c:pt>
                <c:pt idx="4">
                  <c:v>Grad. Boosting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0.57099999999999995</c:v>
                </c:pt>
                <c:pt idx="1">
                  <c:v>0.72899999999999998</c:v>
                </c:pt>
                <c:pt idx="2">
                  <c:v>0.77100000000000002</c:v>
                </c:pt>
                <c:pt idx="3">
                  <c:v>0.80400000000000005</c:v>
                </c:pt>
                <c:pt idx="4">
                  <c:v>0.83299999999999996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52E-4270-B424-67F864CA6A1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8AD6C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Rég. Log.</c:v>
                </c:pt>
                <c:pt idx="1">
                  <c:v>KNN</c:v>
                </c:pt>
                <c:pt idx="2">
                  <c:v>SVM</c:v>
                </c:pt>
                <c:pt idx="3">
                  <c:v>Random Forest</c:v>
                </c:pt>
                <c:pt idx="4">
                  <c:v>Grad. Boosting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0.82599999999999996</c:v>
                </c:pt>
                <c:pt idx="1">
                  <c:v>0.86299999999999999</c:v>
                </c:pt>
                <c:pt idx="2">
                  <c:v>0.89700000000000002</c:v>
                </c:pt>
                <c:pt idx="3">
                  <c:v>0.94499999999999995</c:v>
                </c:pt>
                <c:pt idx="4">
                  <c:v>0.95699999999999996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52E-4270-B424-67F864CA6A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1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6EF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6323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5B7178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Glucose</c:v>
                </c:pt>
                <c:pt idx="1">
                  <c:v>BMI</c:v>
                </c:pt>
                <c:pt idx="2">
                  <c:v>Age</c:v>
                </c:pt>
                <c:pt idx="3">
                  <c:v>DiabetesPedigree</c:v>
                </c:pt>
                <c:pt idx="4">
                  <c:v>Insulin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</c:v>
                </c:pt>
                <c:pt idx="1">
                  <c:v>0.18</c:v>
                </c:pt>
                <c:pt idx="2">
                  <c:v>0.14000000000000001</c:v>
                </c:pt>
                <c:pt idx="3">
                  <c:v>0.12</c:v>
                </c:pt>
                <c:pt idx="4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C8-4902-B9DB-55608F8365B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32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5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258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Bonjour, je vais vous présenter mon projet de Machine Learning end-to-end : la prédiction du diabète à partir de données médicales. C'est un problème de classification binaire supervisée.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problème est une classification binaire. J'ai choisi ce dataset car il respecte le cahier des charges, touche au domaine médical, et contient des anomalies qui rendent le préprocessing intéressant.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768 patientes, 8 variables. La cible est déséquilibrée : environ 65% de saines contre 35% de diabétiques — un point qu'il faudra gérer.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clé : les zéros impossibles, notamment l'insuline avec presque la moitié des valeurs manquantes. À ça s'ajoutent le déséquilibre des classes, les échelles différentes et les outliers.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pipeline : on remplace les zéros par des NaN, on impute par la médiane conditionnée à la classe, on crée de nouvelles variables catégorielles, et on standardise en évitant tout data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J'ai comparé 5 modèles. Le Gradient Boosting est le plus performant sur toutes les métriques, avec un F1 de 0.83 et un AUC de 0.96.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Après optimisation par GridSearch, le modèle atteint 88% d'accuracy et un AUC de 0.96. Les variables les plus importantes sont la glycémie, l'IMC et l'âge — ce qui est cohérent avec la littérature médicale.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conclure : démarche end-to-end complète, bons résultats. J'ai choisi le F1 et l'AUC à cause du déséquilibre, et le recall est important en médecine. En perspective : SMOTE, XGBoost et une application Streamlit pour le bonus. Merci, je suis prêt à répondre à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3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5029200" cy="502920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3291840"/>
            <a:ext cx="3840480" cy="38404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554480"/>
            <a:ext cx="1143000" cy="1143000"/>
          </a:xfrm>
          <a:prstGeom prst="ellipse">
            <a:avLst/>
          </a:prstGeom>
          <a:solidFill>
            <a:srgbClr val="02809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1828800"/>
            <a:ext cx="576072" cy="576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926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END-TO-END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3291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Prédiction du Diabète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77724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supervisée sur données médicales (Pima Indians Diabetes)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5577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C3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Mohamed jaouadi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13232" cy="713232"/>
          </a:xfrm>
          <a:prstGeom prst="ellipse">
            <a:avLst/>
          </a:prstGeom>
          <a:solidFill>
            <a:srgbClr val="02809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621792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&amp; Problématique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: </a:t>
            </a:r>
            <a:r>
              <a:rPr lang="en-US" sz="1600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mesures médicales simples (glycémie, IMC, pression artérielle, âge…), peut-on prédire si une patiente est diabétique 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6583680" cy="1024128"/>
          </a:xfrm>
          <a:prstGeom prst="roundRect">
            <a:avLst>
              <a:gd name="adj" fmla="val 7143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099816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2788920"/>
            <a:ext cx="5669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clair  </a:t>
            </a:r>
            <a:r>
              <a:rPr lang="en-US" sz="140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binaire : diabétique (1) ou sain (0).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6583680" cy="1024128"/>
          </a:xfrm>
          <a:prstGeom prst="roundRect">
            <a:avLst>
              <a:gd name="adj" fmla="val 7143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270248"/>
            <a:ext cx="384048" cy="3840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3959352"/>
            <a:ext cx="5669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santé  </a:t>
            </a:r>
            <a:r>
              <a:rPr lang="en-US" sz="140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l'esprit des sources médicales recommandées (Stanford).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5129784"/>
            <a:ext cx="6583680" cy="1024128"/>
          </a:xfrm>
          <a:prstGeom prst="roundRect">
            <a:avLst>
              <a:gd name="adj" fmla="val 7143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440680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25880" y="5129784"/>
            <a:ext cx="5669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réalistes  </a:t>
            </a:r>
            <a:r>
              <a:rPr lang="en-US" sz="140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« sale » → vrai travail de préprocessing à montrer.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7543800" y="1463040"/>
            <a:ext cx="4069080" cy="4709160"/>
          </a:xfrm>
          <a:prstGeom prst="roundRect">
            <a:avLst>
              <a:gd name="adj" fmla="val 2247"/>
            </a:avLst>
          </a:prstGeom>
          <a:solidFill>
            <a:srgbClr val="043B4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781812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BREF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7818120" y="22860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768</a:t>
            </a:r>
            <a:endParaRPr lang="en-US" sz="5000" dirty="0"/>
          </a:p>
        </p:txBody>
      </p:sp>
      <p:sp>
        <p:nvSpPr>
          <p:cNvPr id="19" name="Text 13"/>
          <p:cNvSpPr/>
          <p:nvPr/>
        </p:nvSpPr>
        <p:spPr>
          <a:xfrm>
            <a:off x="7863840" y="30723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6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patientes (lignes)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7818120" y="35661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000" dirty="0"/>
          </a:p>
        </p:txBody>
      </p:sp>
      <p:sp>
        <p:nvSpPr>
          <p:cNvPr id="21" name="Text 15"/>
          <p:cNvSpPr/>
          <p:nvPr/>
        </p:nvSpPr>
        <p:spPr>
          <a:xfrm>
            <a:off x="7863840" y="43525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6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explicatives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818120" y="48463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000" dirty="0"/>
          </a:p>
        </p:txBody>
      </p:sp>
      <p:sp>
        <p:nvSpPr>
          <p:cNvPr id="23" name="Text 17"/>
          <p:cNvSpPr/>
          <p:nvPr/>
        </p:nvSpPr>
        <p:spPr>
          <a:xfrm>
            <a:off x="7863840" y="563270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6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à prédire (0 / 1)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13232" cy="713232"/>
          </a:xfrm>
          <a:prstGeom prst="ellipse">
            <a:avLst/>
          </a:prstGeom>
          <a:solidFill>
            <a:srgbClr val="02809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621792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Dataset &amp; Analyse Exploratoire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481328" y="95097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explicatives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19202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— glycémie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— indice de masse corporelle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BloodPressure — pression artérielle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Insulin — insuline sérique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SkinThickness — pli cutané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— âge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Pregnancies — nb de grossesses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DiabetesPedigreeFunction — hérédité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76656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 la cible</a:t>
            </a:r>
            <a:endParaRPr lang="en-US" sz="15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6858000" y="1874520"/>
          <a:ext cx="4663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13232" cy="713232"/>
          </a:xfrm>
          <a:prstGeom prst="ellipse">
            <a:avLst/>
          </a:prstGeom>
          <a:solidFill>
            <a:srgbClr val="C7522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621792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Anomalies à traiter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481328" y="95097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75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DU PRÉPROCESSING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variables contiennent des </a:t>
            </a:r>
            <a:r>
              <a:rPr lang="en-US" sz="15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physiologiquement impossibles</a:t>
            </a:r>
            <a:r>
              <a:rPr lang="en-US" sz="1500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(glycémie ou IMC = 0). Ce sont des valeurs manquantes déguisées.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68880"/>
          <a:ext cx="6400800" cy="274320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impossibles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Insulin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374  (≈ 49 %)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SkinThickness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BloodPressure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7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315200" y="146304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543800" y="1755648"/>
            <a:ext cx="822960" cy="822960"/>
          </a:xfrm>
          <a:prstGeom prst="ellipse">
            <a:avLst/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965960"/>
            <a:ext cx="402336" cy="40233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549640" y="1664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 des classes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8549640" y="20299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65 % / 35 % → on juge sur F1-score &amp; AUC, pas l'accuracy.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7315200" y="3054096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543800" y="3346704"/>
            <a:ext cx="822960" cy="822960"/>
          </a:xfrm>
          <a:prstGeom prst="ellipse">
            <a:avLst/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4112" y="3557016"/>
            <a:ext cx="402336" cy="40233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49640" y="32552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Échelles très différentes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8549640" y="3621024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Insulin vs Pedigree → standardisation nécessaire.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7315200" y="4645152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7543800" y="4937760"/>
            <a:ext cx="822960" cy="822960"/>
          </a:xfrm>
          <a:prstGeom prst="ellipse">
            <a:avLst/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4112" y="5148072"/>
            <a:ext cx="402336" cy="40233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8549640" y="4846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aberrantes (outliers)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8549640" y="5212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Surtout sur Insulin et SkinThickness.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13232" cy="713232"/>
          </a:xfrm>
          <a:prstGeom prst="ellipse">
            <a:avLst/>
          </a:prstGeom>
          <a:solidFill>
            <a:srgbClr val="02809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621792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Préprocessing &amp; Feature Engineering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481328" y="95097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PRÉPARATION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1965960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965960" y="25146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 les 0 impossibles par NaN.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16002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1920240"/>
            <a:ext cx="868680" cy="8686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7589520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589520" y="25146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Médiane conditionnée à la classe (médicalement pertinent).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84048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68680" y="4160520"/>
            <a:ext cx="868680" cy="8686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4160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9" name="Text 16"/>
          <p:cNvSpPr/>
          <p:nvPr/>
        </p:nvSpPr>
        <p:spPr>
          <a:xfrm>
            <a:off x="196596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965960" y="47548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Catégories d'IMC, d'âge et de glycémie.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172200" y="384048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92240" y="4160520"/>
            <a:ext cx="868680" cy="8686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0"/>
          <p:cNvSpPr/>
          <p:nvPr/>
        </p:nvSpPr>
        <p:spPr>
          <a:xfrm>
            <a:off x="6492240" y="4160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758952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7589520" y="47548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(fit sur le train uniquement → pas de leakage).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13232" cy="713232"/>
          </a:xfrm>
          <a:prstGeom prst="ellipse">
            <a:avLst/>
          </a:prstGeom>
          <a:solidFill>
            <a:srgbClr val="02809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621792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Comparaison des Modèles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481328" y="95097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ALGORITHMES TESTÉS</a:t>
            </a:r>
            <a:endParaRPr lang="en-US" sz="11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08760"/>
          <a:ext cx="786384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8686800" y="1737360"/>
            <a:ext cx="2971800" cy="4206240"/>
          </a:xfrm>
          <a:prstGeom prst="roundRect">
            <a:avLst>
              <a:gd name="adj" fmla="val 3077"/>
            </a:avLst>
          </a:prstGeom>
          <a:solidFill>
            <a:srgbClr val="043B4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9784080" y="2057400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5248" y="2249424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823960" y="29718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MODÈLE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8823960" y="32918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Boosting</a:t>
            </a:r>
            <a:endParaRPr lang="en-US" sz="2500" dirty="0"/>
          </a:p>
        </p:txBody>
      </p:sp>
      <p:sp>
        <p:nvSpPr>
          <p:cNvPr id="12" name="Text 7"/>
          <p:cNvSpPr/>
          <p:nvPr/>
        </p:nvSpPr>
        <p:spPr>
          <a:xfrm>
            <a:off x="8823960" y="4434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D6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0.83</a:t>
            </a:r>
            <a:endParaRPr lang="en-US" sz="17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D6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0.96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13232" cy="713232"/>
          </a:xfrm>
          <a:prstGeom prst="ellipse">
            <a:avLst/>
          </a:prstGeom>
          <a:solidFill>
            <a:srgbClr val="02809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621792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du Modèle Final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481328" y="95097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OPTIMISÉ (GRIDSEARCH)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78308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88 %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4864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554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2F8F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297680" y="178308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0.83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429768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046720" y="1554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02809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0" y="178308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804672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D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les plus déterminantes</a:t>
            </a:r>
            <a:endParaRPr lang="en-US" sz="16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48640" y="4206240"/>
          <a:ext cx="1106424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43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73427" y="3483864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594360"/>
            <a:ext cx="960120" cy="9601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82296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20240" y="71323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Perspectives</a:t>
            </a:r>
            <a:endParaRPr lang="en-US" sz="3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83664"/>
            <a:ext cx="457200" cy="457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508760" y="182880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Démarche complète — </a:t>
            </a:r>
            <a:r>
              <a:rPr lang="en-US" sz="1550" dirty="0">
                <a:solidFill>
                  <a:srgbClr val="DC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→ anomalies → préprocessing → 5 modèles → optimisation → évaluation.</a:t>
            </a:r>
            <a:endParaRPr lang="en-US" sz="15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026664"/>
            <a:ext cx="457200" cy="457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508760" y="297180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résultat — </a:t>
            </a:r>
            <a:r>
              <a:rPr lang="en-US" sz="1550" dirty="0">
                <a:solidFill>
                  <a:srgbClr val="DC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: AUC ≈ 0.96 ; glycémie, IMC et âge déterminants.</a:t>
            </a:r>
            <a:endParaRPr lang="en-US" sz="15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69664"/>
            <a:ext cx="457200" cy="4572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508760" y="411480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des métriques — </a:t>
            </a:r>
            <a:r>
              <a:rPr lang="en-US" sz="1550" dirty="0">
                <a:solidFill>
                  <a:srgbClr val="DC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 → F1 &amp; AUC ; le recall est crucial (ne pas rater un vrai malade).</a:t>
            </a:r>
            <a:endParaRPr lang="en-US" sz="15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4440" y="562356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676</Words>
  <Application>Microsoft Office PowerPoint</Application>
  <PresentationFormat>Grand écran</PresentationFormat>
  <Paragraphs>101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Prédiction du Diabète — Projet Machine Learning</dc:title>
  <dc:subject>PptxGenJS Presentation</dc:subject>
  <dc:creator>Projet ML</dc:creator>
  <cp:lastModifiedBy>jaouadi mohamed</cp:lastModifiedBy>
  <cp:revision>3</cp:revision>
  <dcterms:created xsi:type="dcterms:W3CDTF">2026-06-22T15:12:46Z</dcterms:created>
  <dcterms:modified xsi:type="dcterms:W3CDTF">2026-06-22T18:26:06Z</dcterms:modified>
</cp:coreProperties>
</file>