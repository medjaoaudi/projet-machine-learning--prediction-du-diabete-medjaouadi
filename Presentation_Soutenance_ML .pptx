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Saines (0)</c:v>
                </c:pt>
                <c:pt idx="1">
                  <c:v>Diabétiques (1)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632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Rég. Log.</c:v>
                  </c:pt>
                  <c:pt idx="1">
                    <c:v>KNN</c:v>
                  </c:pt>
                  <c:pt idx="2">
                    <c:v>SVM</c:v>
                  </c:pt>
                  <c:pt idx="3">
                    <c:v>Random Forest</c:v>
                  </c:pt>
                  <c:pt idx="4">
                    <c:v>Grad. 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0.708</c:v>
                </c:pt>
                <c:pt idx="1">
                  <c:v>0.812</c:v>
                </c:pt>
                <c:pt idx="2">
                  <c:v>0.838</c:v>
                </c:pt>
                <c:pt idx="3">
                  <c:v>0.864</c:v>
                </c:pt>
                <c:pt idx="4">
                  <c:v>0.883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Rég. Log.</c:v>
                  </c:pt>
                  <c:pt idx="1">
                    <c:v>KNN</c:v>
                  </c:pt>
                  <c:pt idx="2">
                    <c:v>SVM</c:v>
                  </c:pt>
                  <c:pt idx="3">
                    <c:v>Random Forest</c:v>
                  </c:pt>
                  <c:pt idx="4">
                    <c:v>Grad. Boosting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0.571</c:v>
                </c:pt>
                <c:pt idx="1">
                  <c:v>0.729</c:v>
                </c:pt>
                <c:pt idx="2">
                  <c:v>0.771</c:v>
                </c:pt>
                <c:pt idx="3">
                  <c:v>0.804</c:v>
                </c:pt>
                <c:pt idx="4">
                  <c:v>0.833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8AD6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Rég. Log.</c:v>
                  </c:pt>
                  <c:pt idx="1">
                    <c:v>KNN</c:v>
                  </c:pt>
                  <c:pt idx="2">
                    <c:v>SVM</c:v>
                  </c:pt>
                  <c:pt idx="3">
                    <c:v>Random Forest</c:v>
                  </c:pt>
                  <c:pt idx="4">
                    <c:v>Grad. Boosting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0.826</c:v>
                </c:pt>
                <c:pt idx="1">
                  <c:v>0.863</c:v>
                </c:pt>
                <c:pt idx="2">
                  <c:v>0.897</c:v>
                </c:pt>
                <c:pt idx="3">
                  <c:v>0.945</c:v>
                </c:pt>
                <c:pt idx="4">
                  <c:v>0.957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632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71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Glucose</c:v>
                  </c:pt>
                  <c:pt idx="1">
                    <c:v>BMI</c:v>
                  </c:pt>
                  <c:pt idx="2">
                    <c:v>Age</c:v>
                  </c:pt>
                  <c:pt idx="3">
                    <c:v>DiabetesPedigree</c:v>
                  </c:pt>
                  <c:pt idx="4">
                    <c:v>Insulin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0.18</c:v>
                </c:pt>
                <c:pt idx="2">
                  <c:v>0.14</c:v>
                </c:pt>
                <c:pt idx="3">
                  <c:v>0.12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B71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2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je vais vous présenter mon projet de Machine Learning end-to-end : la prédiction du diabète à partir de données médicales. C'est un problème de classification binaire supervisée.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est une classification binaire. J'ai choisi ce dataset car il respecte le cahier des charges, touche au domaine médical, et contient des anomalies qui rendent le préprocessing intéressant.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768 patientes, 8 variables. La cible est déséquilibrée : environ 65% de saines contre 35% de diabétiques — un point qu'il faudra gérer.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clé : les zéros impossibles, notamment l'insuline avec presque la moitié des valeurs manquantes. À ça s'ajoutent le déséquilibre des classes, les échelles différentes et les outliers.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 : on remplace les zéros par des NaN, on impute par la médiane conditionnée à la classe, on crée de nouvelles variables catégorielles, et on standardise en évitant tout data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J'ai comparé 5 modèles. Le Gradient Boosting est le plus performant sur toutes les métriques, avec un F1 de 0.83 et un AUC de 0.96.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Après optimisation par GridSearch, le modèle atteint 88% d'accuracy et un AUC de 0.96. Les variables les plus importantes sont la glycémie, l'IMC et l'âge — ce qui est cohérent avec la littérature médicale.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conclure : démarche end-to-end complète, bons résultats. J'ai choisi le F1 et l'AUC à cause du déséquilibre, et le recall est important en médecine. En perspective : SMOTE, XGBoost et une application Streamlit pour le bonus. Merci, je suis prêt à répondre à vos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secours pour les questions. Pour chaque piège : la mauvaise pratique (✗) et la bonne (✓), avec l'écart de score réel mesuré sur le dataset. Exemples de questions probables : pourquoi pas l'accuracy ? (déséquilibre) ; pourquoi stratify ? ; comment éviter le data leakage ? (tout mettre dans un Pipeline et transformer après le split).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291840"/>
            <a:ext cx="3840480" cy="38404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1143000" cy="114300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828800"/>
            <a:ext cx="576072" cy="57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26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END-TO-END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 du Diabète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7724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supervisée sur données médicales (Pima Indians Diabetes)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5577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C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M. Abdallah Khemais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C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Machine Learning / Deep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81328" y="950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MÉTIER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mesures médicales simples (glycémie, IMC, pression artérielle, âge…), peut-on prédire si une patiente est diabétique 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9981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788920"/>
            <a:ext cx="5669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clair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binaire : diabétique (1) ou sain (0).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959352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7024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959352"/>
            <a:ext cx="5669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santé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l'esprit des sources médicales recommandées (Stanford).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5129784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4068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5129784"/>
            <a:ext cx="5669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réalistes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« sale » → vrai travail de préprocessing à montrer.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7543800" y="1463040"/>
            <a:ext cx="4069080" cy="4709160"/>
          </a:xfrm>
          <a:prstGeom prst="roundRect">
            <a:avLst>
              <a:gd name="adj" fmla="val 2247"/>
            </a:avLst>
          </a:prstGeom>
          <a:solidFill>
            <a:srgbClr val="043B4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8181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81812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5000" dirty="0"/>
          </a:p>
        </p:txBody>
      </p:sp>
      <p:sp>
        <p:nvSpPr>
          <p:cNvPr id="19" name="Text 13"/>
          <p:cNvSpPr/>
          <p:nvPr/>
        </p:nvSpPr>
        <p:spPr>
          <a:xfrm>
            <a:off x="7863840" y="3072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patientes (lignes)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818120" y="3566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000" dirty="0"/>
          </a:p>
        </p:txBody>
      </p:sp>
      <p:sp>
        <p:nvSpPr>
          <p:cNvPr id="21" name="Text 15"/>
          <p:cNvSpPr/>
          <p:nvPr/>
        </p:nvSpPr>
        <p:spPr>
          <a:xfrm>
            <a:off x="7863840" y="43525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explicatives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818120" y="4846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23" name="Text 17"/>
          <p:cNvSpPr/>
          <p:nvPr/>
        </p:nvSpPr>
        <p:spPr>
          <a:xfrm>
            <a:off x="7863840" y="56327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à prédire (0 / 1)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 &amp; Analyse Exploratoire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81328" y="950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explicatives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— glycémie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— indice de masse corporelle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BloodPressure — pression artérielle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— insuline sérique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SkinThickness — pli cutané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âge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— nb de grossesses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DiabetesPedigreeFunction — hérédité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 la cible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0" y="1874520"/>
          <a:ext cx="4663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C75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Anomalies à traiter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81328" y="950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PRÉPROCESSING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variables contiennent des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physiologiquement impossibles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(glycémie ou IMC = 0). Ce sont des valeurs manquantes déguisées.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4008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impossibles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  (≈ 49 %)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0" y="1463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543800" y="1755648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1965960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49640" y="1664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des classes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549640" y="20299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 / 35 % → on juge sur F1-score &amp; AUC, pas l'accuracy.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15200" y="3054096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543800" y="3346704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3557016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49640" y="32552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Échelles très différentes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549640" y="362102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vs Pedigree → standardisation nécessaire.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315200" y="4645152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543800" y="49377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5148072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4964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(outliers)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549640" y="5212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sur Insulin et SkinThickness.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Préprocessing &amp; Feature Engineering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81328" y="950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PRÉPARATION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96596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965960" y="2514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0 impossibles par NaN.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19202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58952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89520" y="2514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conditionnée à la classe (médicalement pertinent).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1605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160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196596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965960" y="4754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d'IMC, d'âge et de glycémie.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17220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41605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4160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1"/>
          <p:cNvSpPr/>
          <p:nvPr/>
        </p:nvSpPr>
        <p:spPr>
          <a:xfrm>
            <a:off x="758952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589520" y="4754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(fit sur le train uniquement → pas de leakage).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Modèles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81328" y="950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ALGORITHMES TESTÉS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0876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686800" y="1737360"/>
            <a:ext cx="2971800" cy="4206240"/>
          </a:xfrm>
          <a:prstGeom prst="roundRect">
            <a:avLst>
              <a:gd name="adj" fmla="val 3077"/>
            </a:avLst>
          </a:prstGeom>
          <a:solidFill>
            <a:srgbClr val="043B4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9784080" y="205740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2249424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23960" y="2971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823960" y="32918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2500" dirty="0"/>
          </a:p>
        </p:txBody>
      </p:sp>
      <p:sp>
        <p:nvSpPr>
          <p:cNvPr id="12" name="Text 7"/>
          <p:cNvSpPr/>
          <p:nvPr/>
        </p:nvSpPr>
        <p:spPr>
          <a:xfrm>
            <a:off x="8823960" y="4434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6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0.83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6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0.96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du Modèle Final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81328" y="950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OPTIMISÉ (GRIDSEARCH)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9768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29768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0" y="155448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0" y="17830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804672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déterminantes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4206240"/>
          <a:ext cx="11064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74904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594360"/>
            <a:ext cx="960120" cy="9601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822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71323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83664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18288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complète —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anomalies → préprocessing → 5 modèles → optimisation → évaluation.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29718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résultat —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: AUC ≈ 0.96 ; glycémie, IMC et âge déterminants.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9664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08760" y="41148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métriques —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→ F1 &amp; AUC ; le recall est crucial (ne pas rater un vrai malade).</a:t>
            </a:r>
            <a:endParaRPr lang="en-US" sz="1550" dirty="0"/>
          </a:p>
        </p:txBody>
      </p:sp>
      <p:sp>
        <p:nvSpPr>
          <p:cNvPr id="12" name="Shape 6"/>
          <p:cNvSpPr/>
          <p:nvPr/>
        </p:nvSpPr>
        <p:spPr>
          <a:xfrm>
            <a:off x="868680" y="5349240"/>
            <a:ext cx="1042416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5623560"/>
            <a:ext cx="502920" cy="5029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11680" y="534924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(SMOTE), test de XGBoost, et déploiement d'une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Streamlit (bonus +2 pts).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043B4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Annexe — Pièges classiques évités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81328" y="905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 POUR LA SÉANCE DE QUESTIONS  ·  CHIFFRES RÉELS SUR LE DATASET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40680" cy="1591056"/>
          </a:xfrm>
          <a:prstGeom prst="roundRect">
            <a:avLst>
              <a:gd name="adj" fmla="val 402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282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5608" y="15910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données (leakage)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77240" y="21762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: F1 gonflé à 0.86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" y="25420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après le split : F1 réel 0.72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1371600"/>
            <a:ext cx="5440680" cy="1591056"/>
          </a:xfrm>
          <a:prstGeom prst="roundRect">
            <a:avLst>
              <a:gd name="adj" fmla="val 402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46520" y="1600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7282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50608" y="15910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Zéros impossibles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492240" y="21762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: F1 = 0.63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92240" y="25420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NaN → imputation : F1 = 0.83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02920" y="3145536"/>
            <a:ext cx="5440680" cy="1591056"/>
          </a:xfrm>
          <a:prstGeom prst="roundRect">
            <a:avLst>
              <a:gd name="adj" fmla="val 402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3741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5021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5608" y="3364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split (hasard)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7724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unique : F1 de 0.74 à 0.90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3159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: 0.83 ± 0.02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17920" y="3145536"/>
            <a:ext cx="5440680" cy="1591056"/>
          </a:xfrm>
          <a:prstGeom prst="roundRect">
            <a:avLst>
              <a:gd name="adj" fmla="val 4023"/>
            </a:avLst>
          </a:prstGeom>
          <a:solidFill>
            <a:srgbClr val="F2F8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46520" y="33741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50215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50608" y="3364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6492240" y="39502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44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sans limite : train 1.00 / test 0.80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92240" y="43159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 + CV : train 0.91 / test 0.80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Diabète — Projet Machine Learning</dc:title>
  <dc:subject>PptxGenJS Presentation</dc:subject>
  <dc:creator>Projet ML</dc:creator>
  <cp:lastModifiedBy>Projet ML</cp:lastModifiedBy>
  <cp:revision>1</cp:revision>
  <dcterms:created xsi:type="dcterms:W3CDTF">2026-06-22T15:12:46Z</dcterms:created>
  <dcterms:modified xsi:type="dcterms:W3CDTF">2026-06-22T15:12:46Z</dcterms:modified>
</cp:coreProperties>
</file>